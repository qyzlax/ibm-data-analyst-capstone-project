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14.xml" ContentType="application/vnd.openxmlformats-officedocument.presentationml.tags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4"/>
  </p:notesMasterIdLst>
  <p:sldIdLst>
    <p:sldId id="256" r:id="rId5"/>
    <p:sldId id="257" r:id="rId6"/>
    <p:sldId id="258" r:id="rId7"/>
    <p:sldId id="259" r:id="rId8"/>
    <p:sldId id="260" r:id="rId9"/>
    <p:sldId id="278" r:id="rId10"/>
    <p:sldId id="274" r:id="rId11"/>
    <p:sldId id="275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1857375"/>
  <p:custDataLst>
    <p:tags r:id="rId2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B49"/>
    <a:srgbClr val="E76F39"/>
    <a:srgbClr val="0072C3"/>
    <a:srgbClr val="007D79"/>
    <a:srgbClr val="D02670"/>
    <a:srgbClr val="231F20"/>
    <a:srgbClr val="33B1FF"/>
    <a:srgbClr val="262626"/>
    <a:srgbClr val="525252"/>
    <a:srgbClr val="BE9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29" autoAdjust="0"/>
    <p:restoredTop sz="91507" autoAdjust="0"/>
  </p:normalViewPr>
  <p:slideViewPr>
    <p:cSldViewPr snapToGrid="0">
      <p:cViewPr varScale="1">
        <p:scale>
          <a:sx n="115" d="100"/>
          <a:sy n="115" d="100"/>
        </p:scale>
        <p:origin x="240" y="216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nick/Desktop/Homework/IBM/job-posting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nick/Desktop/Homework/IBM/popular-languag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Job Postings by Location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'Job Postings by Location'!$A$2:$A$8</c:f>
              <c:strCache>
                <c:ptCount val="7"/>
                <c:pt idx="0">
                  <c:v>Austin</c:v>
                </c:pt>
                <c:pt idx="1">
                  <c:v>San Francisco</c:v>
                </c:pt>
                <c:pt idx="2">
                  <c:v>Los Angeles</c:v>
                </c:pt>
                <c:pt idx="3">
                  <c:v>New York</c:v>
                </c:pt>
                <c:pt idx="4">
                  <c:v>Seattle</c:v>
                </c:pt>
                <c:pt idx="5">
                  <c:v>Detroit</c:v>
                </c:pt>
                <c:pt idx="6">
                  <c:v>Washington DC</c:v>
                </c:pt>
              </c:strCache>
            </c:strRef>
          </c:cat>
          <c:val>
            <c:numRef>
              <c:f>'Job Postings by Location'!$B$2:$B$8</c:f>
              <c:numCache>
                <c:formatCode>General</c:formatCode>
                <c:ptCount val="7"/>
                <c:pt idx="0">
                  <c:v>434</c:v>
                </c:pt>
                <c:pt idx="1">
                  <c:v>435</c:v>
                </c:pt>
                <c:pt idx="2">
                  <c:v>640</c:v>
                </c:pt>
                <c:pt idx="3">
                  <c:v>3226</c:v>
                </c:pt>
                <c:pt idx="4">
                  <c:v>3375</c:v>
                </c:pt>
                <c:pt idx="5">
                  <c:v>3945</c:v>
                </c:pt>
                <c:pt idx="6">
                  <c:v>5316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34-954F-BBB0-A8FDA4F300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448263295"/>
        <c:axId val="475230463"/>
      </c:barChart>
      <c:catAx>
        <c:axId val="44826329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5230463"/>
        <c:crosses val="autoZero"/>
        <c:auto val="1"/>
        <c:lblAlgn val="ctr"/>
        <c:lblOffset val="100"/>
        <c:noMultiLvlLbl val="0"/>
      </c:catAx>
      <c:valAx>
        <c:axId val="47523046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8263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Average Annual Salary by Language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'popular-languages'!$B$1</c:f>
              <c:strCache>
                <c:ptCount val="1"/>
                <c:pt idx="0">
                  <c:v>Average Annual Salary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'popular-languages'!$A$2:$A$11</c:f>
              <c:strCache>
                <c:ptCount val="10"/>
                <c:pt idx="0">
                  <c:v>PHP</c:v>
                </c:pt>
                <c:pt idx="1">
                  <c:v>SQL</c:v>
                </c:pt>
                <c:pt idx="2">
                  <c:v>C#</c:v>
                </c:pt>
                <c:pt idx="3">
                  <c:v>R</c:v>
                </c:pt>
                <c:pt idx="4">
                  <c:v>Go</c:v>
                </c:pt>
                <c:pt idx="5">
                  <c:v>Java</c:v>
                </c:pt>
                <c:pt idx="6">
                  <c:v>Javascript</c:v>
                </c:pt>
                <c:pt idx="7">
                  <c:v>C++</c:v>
                </c:pt>
                <c:pt idx="8">
                  <c:v>Python</c:v>
                </c:pt>
                <c:pt idx="9">
                  <c:v>Swift</c:v>
                </c:pt>
              </c:strCache>
            </c:strRef>
          </c:cat>
          <c:val>
            <c:numRef>
              <c:f>'popular-languages'!$B$2:$B$11</c:f>
              <c:numCache>
                <c:formatCode>"$"#,##0_);[Red]\("$"#,##0\)</c:formatCode>
                <c:ptCount val="10"/>
                <c:pt idx="0">
                  <c:v>84727</c:v>
                </c:pt>
                <c:pt idx="1">
                  <c:v>84793</c:v>
                </c:pt>
                <c:pt idx="2">
                  <c:v>88726</c:v>
                </c:pt>
                <c:pt idx="3">
                  <c:v>92037</c:v>
                </c:pt>
                <c:pt idx="4">
                  <c:v>94082</c:v>
                </c:pt>
                <c:pt idx="5">
                  <c:v>101013</c:v>
                </c:pt>
                <c:pt idx="6">
                  <c:v>110981</c:v>
                </c:pt>
                <c:pt idx="7">
                  <c:v>113865</c:v>
                </c:pt>
                <c:pt idx="8">
                  <c:v>114383</c:v>
                </c:pt>
                <c:pt idx="9">
                  <c:v>130801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DB-D942-BFCE-31EF75199A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464243327"/>
        <c:axId val="430835007"/>
      </c:barChart>
      <c:catAx>
        <c:axId val="46424332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835007"/>
        <c:crosses val="autoZero"/>
        <c:auto val="1"/>
        <c:lblAlgn val="ctr"/>
        <c:lblOffset val="100"/>
        <c:noMultiLvlLbl val="0"/>
      </c:catAx>
      <c:valAx>
        <c:axId val="43083500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_);[Red]\(&quot;$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642433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38200" y="1364249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7.png"/><Relationship Id="rId3" Type="http://schemas.openxmlformats.org/officeDocument/2006/relationships/image" Target="../media/image6.png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10.png"/><Relationship Id="rId15" Type="http://schemas.openxmlformats.org/officeDocument/2006/relationships/customXml" Target="../ink/ink9.xml"/><Relationship Id="rId10" Type="http://schemas.openxmlformats.org/officeDocument/2006/relationships/customXml" Target="../ink/ink5.xml"/><Relationship Id="rId4" Type="http://schemas.openxmlformats.org/officeDocument/2006/relationships/customXml" Target="../ink/ink1.xml"/><Relationship Id="rId9" Type="http://schemas.openxmlformats.org/officeDocument/2006/relationships/image" Target="../media/image11.png"/><Relationship Id="rId14" Type="http://schemas.openxmlformats.org/officeDocument/2006/relationships/customXml" Target="../ink/ink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2162"/>
            <a:ext cx="10515600" cy="611620"/>
          </a:xfrm>
        </p:spPr>
        <p:txBody>
          <a:bodyPr anchor="ctr">
            <a:noAutofit/>
          </a:bodyPr>
          <a:lstStyle/>
          <a:p>
            <a:r>
              <a:rPr lang="en-US" dirty="0"/>
              <a:t>Data-Driven Insights into Technology Trends, Salaries, and Job Demand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IBM Plex Mono Medium" panose="020B0609050203000203" pitchFamily="49" charset="0"/>
              </a:rPr>
              <a:t>Nicholas Vergara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IBM Plex Mono Medium" panose="020B0609050203000203" pitchFamily="49" charset="0"/>
              </a:rPr>
              <a:t>June 17</a:t>
            </a:r>
            <a:r>
              <a:rPr lang="en-US" baseline="30000" dirty="0">
                <a:solidFill>
                  <a:schemeClr val="bg1">
                    <a:lumMod val="75000"/>
                  </a:schemeClr>
                </a:solidFill>
                <a:latin typeface="IBM Plex Mono Medium" panose="020B0609050203000203" pitchFamily="49" charset="0"/>
              </a:rPr>
              <a:t>th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IBM Plex Mono Medium" panose="020B0609050203000203" pitchFamily="49" charset="0"/>
              </a:rPr>
              <a:t>, 2026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9811" y="1600200"/>
            <a:ext cx="5038015" cy="45720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13BC838-B25A-D37F-BC71-DD617895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711" y="2025672"/>
            <a:ext cx="3194581" cy="31945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C79264-7E04-A135-9158-F7EF333AC3D8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OUTLINE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639434-C7DB-C6DD-28C9-5FE3588C5BC8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Executive Summary</a:t>
            </a:r>
          </a:p>
          <a:p>
            <a:r>
              <a:rPr lang="en-US" sz="2200" dirty="0"/>
              <a:t>Introduction</a:t>
            </a:r>
          </a:p>
          <a:p>
            <a:r>
              <a:rPr lang="en-US" sz="2200" dirty="0"/>
              <a:t>Methodology</a:t>
            </a:r>
          </a:p>
          <a:p>
            <a:r>
              <a:rPr lang="en-US" sz="2200" dirty="0"/>
              <a:t>Results</a:t>
            </a:r>
          </a:p>
          <a:p>
            <a:pPr lvl="1"/>
            <a:r>
              <a:rPr lang="en-US" sz="1800" dirty="0"/>
              <a:t>Visualization – Charts</a:t>
            </a:r>
          </a:p>
          <a:p>
            <a:pPr lvl="1"/>
            <a:r>
              <a:rPr lang="en-US" sz="1800" dirty="0"/>
              <a:t>Dashboard</a:t>
            </a:r>
          </a:p>
          <a:p>
            <a:r>
              <a:rPr lang="en-US" sz="2200" dirty="0"/>
              <a:t>Discussion</a:t>
            </a:r>
          </a:p>
          <a:p>
            <a:pPr lvl="1"/>
            <a:r>
              <a:rPr lang="en-US" sz="1800" dirty="0"/>
              <a:t>Findings &amp; Implications</a:t>
            </a:r>
          </a:p>
          <a:p>
            <a:r>
              <a:rPr lang="en-US" sz="2200" dirty="0"/>
              <a:t>Conclusion</a:t>
            </a:r>
          </a:p>
          <a:p>
            <a:r>
              <a:rPr lang="en-US" sz="2200" dirty="0"/>
              <a:t>Appendix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14:cNvPr>
              <p14:cNvContentPartPr/>
              <p14:nvPr/>
            </p14:nvContentPartPr>
            <p14:xfrm>
              <a:off x="2328120" y="9629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38120" y="782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45324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4389349" y="1630528"/>
            <a:ext cx="7068725" cy="44654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/>
              <a:t>Summarize key findings here</a:t>
            </a:r>
          </a:p>
          <a:p>
            <a:r>
              <a:rPr lang="en-US" sz="2200" dirty="0"/>
              <a:t>Examined technology trends, salaries, and job demand across locations and programming languages</a:t>
            </a:r>
          </a:p>
          <a:p>
            <a:r>
              <a:rPr lang="en-US" sz="2200" dirty="0"/>
              <a:t>Washington DC, Detroit, and Seattle recorded the highest numbers of job postings</a:t>
            </a:r>
          </a:p>
          <a:p>
            <a:pPr lvl="1"/>
            <a:r>
              <a:rPr lang="en-CA" sz="1800" dirty="0"/>
              <a:t>Python commands the highest average salary ($114k+)</a:t>
            </a:r>
            <a:endParaRPr lang="en-US" sz="1800" dirty="0"/>
          </a:p>
          <a:p>
            <a:pPr lvl="1"/>
            <a:r>
              <a:rPr lang="en-CA" sz="1800" dirty="0"/>
              <a:t>Swift offers the highest average salary overall ($130k+)</a:t>
            </a:r>
            <a:endParaRPr lang="en-US" sz="1800" dirty="0"/>
          </a:p>
          <a:p>
            <a:pPr lvl="1"/>
            <a:r>
              <a:rPr lang="en-US" sz="1800" dirty="0"/>
              <a:t>JavaScript and Java remain highly valued skills</a:t>
            </a:r>
          </a:p>
          <a:p>
            <a:r>
              <a:rPr lang="en-US" sz="2200" dirty="0"/>
              <a:t>Demand for modern programming languages continues to increase</a:t>
            </a:r>
          </a:p>
          <a:p>
            <a:r>
              <a:rPr lang="en-US" sz="2200" dirty="0"/>
              <a:t>Geographic location significantly influences employment opportunities</a:t>
            </a:r>
          </a:p>
          <a:p>
            <a:r>
              <a:rPr lang="en-US" sz="2200" dirty="0"/>
              <a:t>Technology professionals should prioritize high-demand languages to maximize career growth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26" y="2136507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347" y="2262036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4285075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</a:rPr>
              <a:t>Purpose of the report, Target Audience &amp; Value of the analysis</a:t>
            </a:r>
            <a:endParaRPr lang="en-US" sz="2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Analyze global technology trends and labor market demand</a:t>
            </a:r>
          </a:p>
          <a:p>
            <a:r>
              <a:rPr lang="en-US" sz="2200" dirty="0">
                <a:solidFill>
                  <a:schemeClr val="tx1"/>
                </a:solidFill>
              </a:rPr>
              <a:t>Identify the most popular and highest-paying programming languages</a:t>
            </a:r>
          </a:p>
          <a:p>
            <a:r>
              <a:rPr lang="en-US" sz="2200" dirty="0">
                <a:solidFill>
                  <a:schemeClr val="tx1"/>
                </a:solidFill>
              </a:rPr>
              <a:t>Understand regional variations in job opportunities</a:t>
            </a:r>
          </a:p>
          <a:p>
            <a:r>
              <a:rPr lang="en-US" sz="2200" dirty="0">
                <a:solidFill>
                  <a:schemeClr val="tx1"/>
                </a:solidFill>
              </a:rPr>
              <a:t>Provide insights for students, professionals, and hiring organizations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Support data-driven career decisions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Highlight emerging technology trends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681037"/>
            <a:ext cx="10571747" cy="685799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285075" y="1680153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/>
              <a:t>Data sources, Data collection &amp; Data wrangling steps</a:t>
            </a:r>
          </a:p>
          <a:p>
            <a:r>
              <a:rPr lang="en-US" sz="2200" dirty="0"/>
              <a:t>Collected data from Stack Overflow developer surveys</a:t>
            </a:r>
          </a:p>
          <a:p>
            <a:r>
              <a:rPr lang="en-US" sz="2200" dirty="0"/>
              <a:t>Cleaned and transformed datasets using data wrangling techniques</a:t>
            </a:r>
          </a:p>
          <a:p>
            <a:r>
              <a:rPr lang="en-US" sz="2200" dirty="0"/>
              <a:t>Aggregated salaries and job counts by technology categories</a:t>
            </a:r>
          </a:p>
          <a:p>
            <a:r>
              <a:rPr lang="en-US" sz="2200" dirty="0"/>
              <a:t>Created visualizations and dashboards to summarize findings</a:t>
            </a:r>
          </a:p>
          <a:p>
            <a:pPr lvl="1"/>
            <a:r>
              <a:rPr lang="en-US" sz="2200" dirty="0"/>
              <a:t>Removed missing and duplicate records</a:t>
            </a:r>
          </a:p>
          <a:p>
            <a:pPr lvl="1"/>
            <a:r>
              <a:rPr lang="en-US" sz="2200" dirty="0"/>
              <a:t>Standardized categories and formats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655" y="1831709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47B35-92B8-C737-3DEB-4A57887A1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9CC39-D393-D59D-E066-37C17FD3C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98033"/>
            <a:ext cx="10571747" cy="1091735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0DDB6-5B82-F3F8-80C1-FE555825BAF5}"/>
              </a:ext>
            </a:extLst>
          </p:cNvPr>
          <p:cNvSpPr txBox="1">
            <a:spLocks/>
          </p:cNvSpPr>
          <p:nvPr/>
        </p:nvSpPr>
        <p:spPr>
          <a:xfrm>
            <a:off x="4285075" y="1680153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200" dirty="0"/>
          </a:p>
        </p:txBody>
      </p:sp>
      <p:pic>
        <p:nvPicPr>
          <p:cNvPr id="6" name="Graphic 5" descr="Presentation with pie chart with solid fill">
            <a:extLst>
              <a:ext uri="{FF2B5EF4-FFF2-40B4-BE49-F238E27FC236}">
                <a16:creationId xmlns:a16="http://schemas.microsoft.com/office/drawing/2014/main" id="{1D5615A7-55B9-E0F5-0A84-57A35A57B0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468" y="2101175"/>
            <a:ext cx="2972979" cy="297297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01327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4E31-32FC-4A23-CEF9-98F0BB9F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334EF5D-2E2A-7FE5-06C6-01ACAB1F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845" y="383051"/>
            <a:ext cx="5833456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 JOB POSTINGS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3F79416-0AFB-FC80-07E8-3CF2B4E7E798}"/>
              </a:ext>
            </a:extLst>
          </p:cNvPr>
          <p:cNvSpPr txBox="1">
            <a:spLocks/>
          </p:cNvSpPr>
          <p:nvPr/>
        </p:nvSpPr>
        <p:spPr>
          <a:xfrm>
            <a:off x="914400" y="2191385"/>
            <a:ext cx="10489276" cy="2862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2200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FD8D9FD7-4272-71F8-A38D-1ADC588505E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2913836"/>
              </p:ext>
            </p:extLst>
          </p:nvPr>
        </p:nvGraphicFramePr>
        <p:xfrm>
          <a:off x="3590009" y="2017118"/>
          <a:ext cx="5138057" cy="32112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935373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DB558-7141-B0CE-D399-712C1073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CF5900-71B3-70B0-7CF1-4A1C535AD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536" y="383051"/>
            <a:ext cx="57087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POPULAR LANGUAGES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1AABA-34AF-B1F5-3C7F-11AEB9E03637}"/>
              </a:ext>
            </a:extLst>
          </p:cNvPr>
          <p:cNvSpPr txBox="1">
            <a:spLocks/>
          </p:cNvSpPr>
          <p:nvPr/>
        </p:nvSpPr>
        <p:spPr>
          <a:xfrm>
            <a:off x="878305" y="2191385"/>
            <a:ext cx="10525371" cy="2862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2200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892924B-AA62-947C-62B1-1AF0EBE2636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3501072"/>
              </p:ext>
            </p:extLst>
          </p:nvPr>
        </p:nvGraphicFramePr>
        <p:xfrm>
          <a:off x="3407228" y="1861458"/>
          <a:ext cx="5377543" cy="35160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945902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27A2E-C667-F6D3-A1E3-47F70603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39A591-4DF0-3912-FF72-3FD0BD7B9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 TRENDS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B8C8AD-F58A-1F17-9CA2-E737E19499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4305" y="2063170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Year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9FB3B79-D3E9-99FC-ECF2-28CCBF6475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63170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Next Year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DFAC5CF-1B58-ABB4-D63B-1D931D572459}"/>
              </a:ext>
            </a:extLst>
          </p:cNvPr>
          <p:cNvSpPr txBox="1">
            <a:spLocks/>
          </p:cNvSpPr>
          <p:nvPr/>
        </p:nvSpPr>
        <p:spPr>
          <a:xfrm>
            <a:off x="845473" y="2605804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200" dirty="0">
              <a:solidFill>
                <a:schemeClr val="tx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BAA9DB0-9EAC-9B25-C7F3-3CE83758128E}"/>
              </a:ext>
            </a:extLst>
          </p:cNvPr>
          <p:cNvSpPr txBox="1">
            <a:spLocks/>
          </p:cNvSpPr>
          <p:nvPr/>
        </p:nvSpPr>
        <p:spPr>
          <a:xfrm>
            <a:off x="6172200" y="2605804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2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C5862-9AB9-9679-23B5-A950E973AFB5}"/>
              </a:ext>
            </a:extLst>
          </p:cNvPr>
          <p:cNvSpPr txBox="1"/>
          <p:nvPr/>
        </p:nvSpPr>
        <p:spPr>
          <a:xfrm>
            <a:off x="924305" y="1475244"/>
            <a:ext cx="104294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Summarize key trends shown in the charts.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B0AF64-0FA8-550C-195D-6BC13864B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305" y="2686719"/>
            <a:ext cx="4536117" cy="21122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91DFF59-F3B4-4399-33DC-BA6F285B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86719"/>
            <a:ext cx="4536117" cy="21122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84467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3065" y="218209"/>
            <a:ext cx="11471562" cy="1330037"/>
          </a:xfrm>
        </p:spPr>
        <p:txBody>
          <a:bodyPr>
            <a:noAutofit/>
          </a:bodyPr>
          <a:lstStyle/>
          <a:p>
            <a:r>
              <a:rPr lang="en-US" dirty="0"/>
              <a:t>PROGRAMMING LANGUAGE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Python and Swift provide the highest average salaries</a:t>
            </a:r>
          </a:p>
          <a:p>
            <a:r>
              <a:rPr lang="en-US" dirty="0"/>
              <a:t>JavaScript and Java remain widely adopted</a:t>
            </a:r>
          </a:p>
          <a:p>
            <a:r>
              <a:rPr lang="en-US" dirty="0"/>
              <a:t>Salary differences across languages are substantial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Learning Python can improve earning potential</a:t>
            </a:r>
          </a:p>
          <a:p>
            <a:r>
              <a:rPr lang="en-US" dirty="0"/>
              <a:t>Organizations should invest in modern skill development</a:t>
            </a:r>
          </a:p>
          <a:p>
            <a:r>
              <a:rPr lang="en-US" dirty="0"/>
              <a:t>Professionals should combine multiple languages for versatility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/>
          <a:lstStyle/>
          <a:p>
            <a:r>
              <a:rPr lang="en-US" dirty="0"/>
              <a:t>DATABASE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2065128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65127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Next Year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813816" y="275893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200" dirty="0">
              <a:solidFill>
                <a:schemeClr val="tx1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695286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2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7A0CDF-0FE0-1DE3-5B09-44D4318623B8}"/>
              </a:ext>
            </a:extLst>
          </p:cNvPr>
          <p:cNvSpPr txBox="1"/>
          <p:nvPr/>
        </p:nvSpPr>
        <p:spPr>
          <a:xfrm>
            <a:off x="881252" y="1476527"/>
            <a:ext cx="104294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Summarize key trends shown in the charts.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F1F53D-CB99-06C8-E323-A9880C698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694003"/>
            <a:ext cx="4375150" cy="21329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286FE95-2E4B-8784-1043-6106B3A94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94001"/>
            <a:ext cx="4375150" cy="213689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6A9C-70D0-119E-38BE-1738DA5A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97E2B-01DB-9C21-4CF2-1586AB1C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786" y="572944"/>
            <a:ext cx="11457214" cy="975302"/>
          </a:xfrm>
        </p:spPr>
        <p:txBody>
          <a:bodyPr>
            <a:normAutofit fontScale="90000"/>
          </a:bodyPr>
          <a:lstStyle/>
          <a:p>
            <a:r>
              <a:rPr lang="en-US" dirty="0"/>
              <a:t>DATABASE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C42F-75A2-FA08-F2B6-EB2817BBF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SQL-based systems continue to lead adoption.</a:t>
            </a:r>
          </a:p>
          <a:p>
            <a:r>
              <a:rPr lang="en-US" dirty="0"/>
              <a:t>Cloud databases show increasing popularity</a:t>
            </a:r>
          </a:p>
          <a:p>
            <a:r>
              <a:rPr lang="en-US" dirty="0"/>
              <a:t>NoSQL databases are gaining traction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7B10A-E9C3-5B71-0345-782E28BDB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Database professionals should develop cloud skills</a:t>
            </a:r>
          </a:p>
          <a:p>
            <a:r>
              <a:rPr lang="en-US" dirty="0"/>
              <a:t>Organizations need hybrid database strategies</a:t>
            </a:r>
          </a:p>
          <a:p>
            <a:r>
              <a:rPr lang="en-US" dirty="0"/>
              <a:t>Demand for data engineering expertise will continue rising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8125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75" y="1901819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F0CA-55D1-0835-20D4-03D017A1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93914-A678-A34E-C52A-16D0ADAA2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582" y="365125"/>
            <a:ext cx="11087100" cy="985693"/>
          </a:xfrm>
        </p:spPr>
        <p:txBody>
          <a:bodyPr anchor="ctr">
            <a:noAutofit/>
          </a:bodyPr>
          <a:lstStyle/>
          <a:p>
            <a:r>
              <a:rPr lang="en-US" dirty="0"/>
              <a:t>DASHBOARD TAB 1: Current Technology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FB03-F857-3EC0-249E-AE03F39150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3537857" cy="4351338"/>
          </a:xfrm>
        </p:spPr>
        <p:txBody>
          <a:bodyPr/>
          <a:lstStyle/>
          <a:p>
            <a:r>
              <a:rPr lang="en-US" dirty="0"/>
              <a:t>JavaScript, Python, and SQL remain widely used technologies</a:t>
            </a:r>
          </a:p>
          <a:p>
            <a:r>
              <a:rPr lang="en-US" dirty="0"/>
              <a:t>Most respondents work with multiple programming tools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4DEF53-2144-0F56-3C97-156CFEA27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092" y="1350818"/>
            <a:ext cx="6861708" cy="400591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29736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8F23D-B8D7-D0E4-EDC5-E0F023884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F933A-3681-3D82-68EF-62EC07822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7364" y="531380"/>
            <a:ext cx="11055926" cy="1016866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DASHBOARD TAB 2: Future Technology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60BF9-AB8D-4916-3BC9-E2E92E087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3646714" cy="4351338"/>
          </a:xfrm>
        </p:spPr>
        <p:txBody>
          <a:bodyPr/>
          <a:lstStyle/>
          <a:p>
            <a:r>
              <a:rPr lang="en-US" dirty="0"/>
              <a:t>Emerging technologies are expected to experience continued growth</a:t>
            </a:r>
          </a:p>
          <a:p>
            <a:r>
              <a:rPr lang="en-US" dirty="0"/>
              <a:t>Demand for cloud, AI, and data-related skills is increasing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CD9EBE-8E78-5C9F-C128-679E89F09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4914" y="1528401"/>
            <a:ext cx="6979722" cy="418386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48496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10D3-267F-7A90-5160-775BFEBCA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0C82-5F1A-F7B1-2C56-5C08240C1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DASHBOARD TAB 3: Demographics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61A98-8DF3-E66E-19C4-7D7642551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3657600" cy="4351338"/>
          </a:xfrm>
        </p:spPr>
        <p:txBody>
          <a:bodyPr/>
          <a:lstStyle/>
          <a:p>
            <a:r>
              <a:rPr lang="en-US" dirty="0"/>
              <a:t>Respondents come from diverse backgrounds and experience levels</a:t>
            </a:r>
          </a:p>
          <a:p>
            <a:r>
              <a:rPr lang="en-US" dirty="0"/>
              <a:t>Technology adoption varies across regions and age groups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242BEF-D9EA-EAB6-D4A3-EC4A73831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1690688"/>
            <a:ext cx="6858000" cy="379261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05636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62C0A-56EF-B349-A097-27B4D460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8769-531F-C6A5-406F-D1C3D2805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DISCUSSION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F45ECC1-C956-CADF-DDFD-F54C6608E4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43282" y="2348628"/>
            <a:ext cx="3054361" cy="3054361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7EF50-003F-6BB0-4367-42BB884C77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1155" y="1825625"/>
            <a:ext cx="6272645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The technology industry continues to evolve rapidly</a:t>
            </a:r>
          </a:p>
          <a:p>
            <a:r>
              <a:rPr lang="en-CA" dirty="0"/>
              <a:t>Salary and job opportunities vary significantly by skill and location</a:t>
            </a:r>
          </a:p>
          <a:p>
            <a:r>
              <a:rPr lang="en-CA" dirty="0"/>
              <a:t>Python, JavaScript, and SQL remain critical competencies</a:t>
            </a:r>
          </a:p>
          <a:p>
            <a:r>
              <a:rPr lang="en-CA" dirty="0"/>
              <a:t>Emerging technologies present strong opportunities for future growth</a:t>
            </a:r>
          </a:p>
          <a:p>
            <a:r>
              <a:rPr lang="en-CA" dirty="0"/>
              <a:t>Continuous learning is essential for career success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573335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5330-0589-A550-601A-037CA416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A8902-AF46-DDE8-D792-7940E18A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6B89C-35B9-C514-4E9C-FCBE8D68D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CA" dirty="0"/>
              <a:t>Demand for technology professionals remains strong</a:t>
            </a:r>
            <a:endParaRPr lang="en-US" dirty="0"/>
          </a:p>
          <a:p>
            <a:r>
              <a:rPr lang="en-CA" dirty="0"/>
              <a:t>Python and Swift provide the highest average salaries</a:t>
            </a:r>
            <a:endParaRPr lang="en-US" dirty="0"/>
          </a:p>
          <a:p>
            <a:r>
              <a:rPr lang="en-CA" dirty="0"/>
              <a:t>Geographic location affects employment opportunities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DBBA5A-826D-FFFD-F1BE-92269842D3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CA" dirty="0"/>
              <a:t>Professionals should prioritize high-demand skills</a:t>
            </a:r>
            <a:endParaRPr lang="en-US" dirty="0"/>
          </a:p>
          <a:p>
            <a:r>
              <a:rPr lang="en-CA" dirty="0"/>
              <a:t>Employers must adapt to changing technology trends</a:t>
            </a:r>
            <a:endParaRPr lang="en-US" dirty="0"/>
          </a:p>
          <a:p>
            <a:r>
              <a:rPr lang="en-CA" dirty="0"/>
              <a:t>Upskilling and continuous learning are key competitive advantages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5637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A16F-6AB5-5C0B-5466-65B2A6AE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E978FF3-BC93-079A-1687-DD4786B81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pic>
        <p:nvPicPr>
          <p:cNvPr id="13" name="Content Placeholder 5">
            <a:extLst>
              <a:ext uri="{FF2B5EF4-FFF2-40B4-BE49-F238E27FC236}">
                <a16:creationId xmlns:a16="http://schemas.microsoft.com/office/drawing/2014/main" id="{CD985AE9-0D12-3398-B9B7-4395CABF17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5967" y="2113896"/>
            <a:ext cx="3054361" cy="3054361"/>
          </a:xfrm>
          <a:prstGeom prst="rect">
            <a:avLst/>
          </a:prstGeom>
        </p:spPr>
      </p:pic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E75918E-509D-16F8-F478-FA41759FEFE9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Technology trends continue to shape labor market demand</a:t>
            </a:r>
            <a:endParaRPr lang="en-US" dirty="0"/>
          </a:p>
          <a:p>
            <a:r>
              <a:rPr lang="en-CA" dirty="0"/>
              <a:t>Python, JavaScript, and SQL remain among the most important skills</a:t>
            </a:r>
            <a:endParaRPr lang="en-US" dirty="0"/>
          </a:p>
          <a:p>
            <a:r>
              <a:rPr lang="en-CA" dirty="0"/>
              <a:t>High-paying opportunities exist for professionals with specialized expertise</a:t>
            </a:r>
            <a:endParaRPr lang="en-US" dirty="0"/>
          </a:p>
          <a:p>
            <a:r>
              <a:rPr lang="en-CA" dirty="0"/>
              <a:t>Data-driven insights can guide better career and organizational decisions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403782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5445547-4CD8-432E-8B58-E443FD17F88F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4DA07C5-A406-4A0D-B3E6-3856C94AC7F3}">
  <ds:schemaRefs>
    <ds:schemaRef ds:uri="155be751-a274-42e8-93fb-f39d3b9bccc8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f80a141d-92ca-4d3d-9308-f7e7b1d44ce8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196</TotalTime>
  <Words>553</Words>
  <Application>Microsoft Macintosh PowerPoint</Application>
  <PresentationFormat>Widescreen</PresentationFormat>
  <Paragraphs>107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Calibri</vt:lpstr>
      <vt:lpstr>Helv</vt:lpstr>
      <vt:lpstr>IBM Plex Mono</vt:lpstr>
      <vt:lpstr>IBM Plex Mono Medium</vt:lpstr>
      <vt:lpstr>IBM Plex Sans</vt:lpstr>
      <vt:lpstr>IBM Plex Sans SemiBold</vt:lpstr>
      <vt:lpstr>SLIDE_TEMPLATE_skill_network</vt:lpstr>
      <vt:lpstr>Data-Driven Insights into Technology Trends, Salaries, and Job Demand</vt:lpstr>
      <vt:lpstr>PowerPoint Presentation</vt:lpstr>
      <vt:lpstr>EXECUTIVE SUMMARY</vt:lpstr>
      <vt:lpstr>INTRODUCTION</vt:lpstr>
      <vt:lpstr>METHODOLOGY</vt:lpstr>
      <vt:lpstr>Results</vt:lpstr>
      <vt:lpstr> JOB POSTINGS</vt:lpstr>
      <vt:lpstr>POPULAR LANGUAGES</vt:lpstr>
      <vt:lpstr>PROGRAMMING LANGUAGE TRENDS</vt:lpstr>
      <vt:lpstr>PROGRAMMING LANGUAGE TRENDS - FINDINGS &amp; IMPLICATIONS</vt:lpstr>
      <vt:lpstr>DATABASE TRENDS</vt:lpstr>
      <vt:lpstr>DATABASE TRENDS - FINDINGS &amp; IMPLICATIONS</vt:lpstr>
      <vt:lpstr>DASHBOARD</vt:lpstr>
      <vt:lpstr>DASHBOARD TAB 1: Current Technology Usage</vt:lpstr>
      <vt:lpstr>DASHBOARD TAB 2: Future Technology Trends</vt:lpstr>
      <vt:lpstr>DASHBOARD TAB 3: Demographics</vt:lpstr>
      <vt:lpstr>DISCUSSION</vt:lpstr>
      <vt:lpstr>OVERALL FINDINGS &amp; IMPLICATIONS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Nicholas Vergara Hippisley</cp:lastModifiedBy>
  <cp:revision>10</cp:revision>
  <dcterms:created xsi:type="dcterms:W3CDTF">2024-10-30T05:40:03Z</dcterms:created>
  <dcterms:modified xsi:type="dcterms:W3CDTF">2026-07-15T07:05:46Z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