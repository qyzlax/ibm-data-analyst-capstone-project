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2" autoAdjust="0"/>
    <p:restoredTop sz="91507" autoAdjust="0"/>
  </p:normalViewPr>
  <p:slideViewPr>
    <p:cSldViewPr snapToGrid="0">
      <p:cViewPr>
        <p:scale>
          <a:sx n="108" d="100"/>
          <a:sy n="108" d="100"/>
        </p:scale>
        <p:origin x="584" y="36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k/Desktop/Homework/IBM/job-postin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nick/Desktop/Homework/IBM/popular-languag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Job Postings by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'Job Postings by Location'!$A$2:$A$8</c:f>
              <c:strCache>
                <c:ptCount val="7"/>
                <c:pt idx="0">
                  <c:v>Austin</c:v>
                </c:pt>
                <c:pt idx="1">
                  <c:v>San Francisco</c:v>
                </c:pt>
                <c:pt idx="2">
                  <c:v>Los Angeles</c:v>
                </c:pt>
                <c:pt idx="3">
                  <c:v>New York</c:v>
                </c:pt>
                <c:pt idx="4">
                  <c:v>Seattle</c:v>
                </c:pt>
                <c:pt idx="5">
                  <c:v>Detroit</c:v>
                </c:pt>
                <c:pt idx="6">
                  <c:v>Washington DC</c:v>
                </c:pt>
              </c:strCache>
            </c:strRef>
          </c:cat>
          <c:val>
            <c:numRef>
              <c:f>'Job Postings by Location'!$B$2:$B$8</c:f>
              <c:numCache>
                <c:formatCode>General</c:formatCode>
                <c:ptCount val="7"/>
                <c:pt idx="0">
                  <c:v>434</c:v>
                </c:pt>
                <c:pt idx="1">
                  <c:v>435</c:v>
                </c:pt>
                <c:pt idx="2">
                  <c:v>640</c:v>
                </c:pt>
                <c:pt idx="3">
                  <c:v>3226</c:v>
                </c:pt>
                <c:pt idx="4">
                  <c:v>3375</c:v>
                </c:pt>
                <c:pt idx="5">
                  <c:v>3945</c:v>
                </c:pt>
                <c:pt idx="6">
                  <c:v>5316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34-954F-BBB0-A8FDA4F300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48263295"/>
        <c:axId val="475230463"/>
      </c:barChart>
      <c:catAx>
        <c:axId val="4482632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230463"/>
        <c:crosses val="autoZero"/>
        <c:auto val="1"/>
        <c:lblAlgn val="ctr"/>
        <c:lblOffset val="100"/>
        <c:noMultiLvlLbl val="0"/>
      </c:catAx>
      <c:valAx>
        <c:axId val="475230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263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Annual Salary by Language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'popular-languages'!$B$1</c:f>
              <c:strCache>
                <c:ptCount val="1"/>
                <c:pt idx="0">
                  <c:v>Average Annual 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'popular-languages'!$A$2:$A$11</c:f>
              <c:strCache>
                <c:ptCount val="10"/>
                <c:pt idx="0">
                  <c:v>PHP</c:v>
                </c:pt>
                <c:pt idx="1">
                  <c:v>SQL</c:v>
                </c:pt>
                <c:pt idx="2">
                  <c:v>C#</c:v>
                </c:pt>
                <c:pt idx="3">
                  <c:v>R</c:v>
                </c:pt>
                <c:pt idx="4">
                  <c:v>Go</c:v>
                </c:pt>
                <c:pt idx="5">
                  <c:v>Java</c:v>
                </c:pt>
                <c:pt idx="6">
                  <c:v>Javascript</c:v>
                </c:pt>
                <c:pt idx="7">
                  <c:v>C++</c:v>
                </c:pt>
                <c:pt idx="8">
                  <c:v>Python</c:v>
                </c:pt>
                <c:pt idx="9">
                  <c:v>Swift</c:v>
                </c:pt>
              </c:strCache>
            </c:strRef>
          </c:cat>
          <c:val>
            <c:numRef>
              <c:f>'popular-languages'!$B$2:$B$11</c:f>
              <c:numCache>
                <c:formatCode>"$"#,##0_);[Red]\("$"#,##0\)</c:formatCode>
                <c:ptCount val="10"/>
                <c:pt idx="0">
                  <c:v>84727</c:v>
                </c:pt>
                <c:pt idx="1">
                  <c:v>84793</c:v>
                </c:pt>
                <c:pt idx="2">
                  <c:v>88726</c:v>
                </c:pt>
                <c:pt idx="3">
                  <c:v>92037</c:v>
                </c:pt>
                <c:pt idx="4">
                  <c:v>94082</c:v>
                </c:pt>
                <c:pt idx="5">
                  <c:v>101013</c:v>
                </c:pt>
                <c:pt idx="6">
                  <c:v>110981</c:v>
                </c:pt>
                <c:pt idx="7">
                  <c:v>113865</c:v>
                </c:pt>
                <c:pt idx="8">
                  <c:v>114383</c:v>
                </c:pt>
                <c:pt idx="9">
                  <c:v>130801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B-D942-BFCE-31EF75199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64243327"/>
        <c:axId val="430835007"/>
      </c:barChart>
      <c:catAx>
        <c:axId val="464243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835007"/>
        <c:crosses val="autoZero"/>
        <c:auto val="1"/>
        <c:lblAlgn val="ctr"/>
        <c:lblOffset val="100"/>
        <c:noMultiLvlLbl val="0"/>
      </c:catAx>
      <c:valAx>
        <c:axId val="4308350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4243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5" Type="http://schemas.openxmlformats.org/officeDocument/2006/relationships/customXml" Target="../ink/ink9.xml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Nicholas Vergara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Summarize key findings here</a:t>
            </a:r>
          </a:p>
          <a:p>
            <a:r>
              <a:rPr lang="en-US" sz="2200" dirty="0"/>
              <a:t>Examined technology trends, salaries, and job demand across locations and programming languages</a:t>
            </a:r>
          </a:p>
          <a:p>
            <a:r>
              <a:rPr lang="en-US" sz="2200" dirty="0"/>
              <a:t>Washington DC, Detroit, and Seattle recorded the highest numbers of job postings</a:t>
            </a:r>
          </a:p>
          <a:p>
            <a:pPr lvl="1"/>
            <a:r>
              <a:rPr lang="en-CA" sz="1800" dirty="0"/>
              <a:t>Python commands the highest average salary ($114k+)</a:t>
            </a:r>
            <a:endParaRPr lang="en-US" sz="1800" dirty="0"/>
          </a:p>
          <a:p>
            <a:pPr lvl="1"/>
            <a:r>
              <a:rPr lang="en-CA" sz="1800" dirty="0"/>
              <a:t>Swift offers the highest average salary overall ($130k+)</a:t>
            </a:r>
            <a:endParaRPr lang="en-US" sz="1800" dirty="0"/>
          </a:p>
          <a:p>
            <a:pPr lvl="1"/>
            <a:r>
              <a:rPr lang="en-US" sz="1800" dirty="0"/>
              <a:t>JavaScript and Java remain highly valued skills</a:t>
            </a:r>
          </a:p>
          <a:p>
            <a:r>
              <a:rPr lang="en-US" sz="2200" dirty="0"/>
              <a:t>Demand for modern programming languages continues to increase</a:t>
            </a:r>
          </a:p>
          <a:p>
            <a:r>
              <a:rPr lang="en-US" sz="2200" dirty="0"/>
              <a:t>Geographic location significantly influences employment opportunities</a:t>
            </a:r>
          </a:p>
          <a:p>
            <a:r>
              <a:rPr lang="en-US" sz="2200" dirty="0"/>
              <a:t>Technology professionals should prioritize high-demand languages to maximize career growth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 of the report,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Analyze global technology trends and labor market demand</a:t>
            </a:r>
          </a:p>
          <a:p>
            <a:r>
              <a:rPr lang="en-US" sz="2200" dirty="0">
                <a:solidFill>
                  <a:schemeClr val="tx1"/>
                </a:solidFill>
              </a:rPr>
              <a:t>Identify the most popular and highest-paying programming languages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Understand regional variations in job opportunities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Provide insights for students, professionals, and hiring organizations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Support data-driven career decisions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Highlight emerging technology trends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sources, Data collection &amp; Data wrangling steps</a:t>
            </a:r>
          </a:p>
          <a:p>
            <a:r>
              <a:rPr lang="en-US" sz="2200" dirty="0"/>
              <a:t>Collected data from Stack Overflow developer surveys</a:t>
            </a:r>
          </a:p>
          <a:p>
            <a:r>
              <a:rPr lang="en-US" sz="2200" dirty="0"/>
              <a:t>Cleaned and transformed datasets using data wrangling techniques</a:t>
            </a:r>
          </a:p>
          <a:p>
            <a:r>
              <a:rPr lang="en-US" sz="2200" dirty="0"/>
              <a:t>Aggregated salaries and job counts by technology categories</a:t>
            </a:r>
          </a:p>
          <a:p>
            <a:r>
              <a:rPr lang="en-US" sz="2200" dirty="0"/>
              <a:t>Created visualizations and dashboards to summarize findings</a:t>
            </a:r>
          </a:p>
          <a:p>
            <a:pPr lvl="1"/>
            <a:r>
              <a:rPr lang="en-US" sz="2200" dirty="0"/>
              <a:t>Removed missing and duplicate records</a:t>
            </a:r>
          </a:p>
          <a:p>
            <a:pPr lvl="1"/>
            <a:r>
              <a:rPr lang="en-US" sz="2200" dirty="0"/>
              <a:t>Standardized categories and formats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D8D9FD7-4272-71F8-A38D-1ADC588505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2913836"/>
              </p:ext>
            </p:extLst>
          </p:nvPr>
        </p:nvGraphicFramePr>
        <p:xfrm>
          <a:off x="3590009" y="2017118"/>
          <a:ext cx="5138057" cy="3211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892924B-AA62-947C-62B1-1AF0EBE263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3501072"/>
              </p:ext>
            </p:extLst>
          </p:nvPr>
        </p:nvGraphicFramePr>
        <p:xfrm>
          <a:off x="3407228" y="1861458"/>
          <a:ext cx="5377543" cy="3516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0AF64-0FA8-550C-195D-6BC13864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05" y="2686719"/>
            <a:ext cx="4536117" cy="2112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DFF59-F3B4-4399-33DC-BA6F285BC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86719"/>
            <a:ext cx="4536117" cy="21122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Python and Swift provide the highest average salaries</a:t>
            </a:r>
          </a:p>
          <a:p>
            <a:r>
              <a:rPr lang="en-US" dirty="0"/>
              <a:t>JavaScript and Java remain widely adopted</a:t>
            </a:r>
          </a:p>
          <a:p>
            <a:r>
              <a:rPr lang="en-US" dirty="0"/>
              <a:t>Salary differences across languages are substantial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Learning Python can improve earning potential</a:t>
            </a:r>
          </a:p>
          <a:p>
            <a:r>
              <a:rPr lang="en-US" dirty="0"/>
              <a:t>Organizations should invest in modern skill development</a:t>
            </a:r>
          </a:p>
          <a:p>
            <a:r>
              <a:rPr lang="en-US" dirty="0"/>
              <a:t>Professionals should combine multiple languages for versatility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F1F53D-CB99-06C8-E323-A9880C698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694003"/>
            <a:ext cx="4375150" cy="2132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86FE95-2E4B-8784-1043-6106B3A94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94001"/>
            <a:ext cx="4375150" cy="21368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SQL-based systems continue to lead adoption.</a:t>
            </a:r>
          </a:p>
          <a:p>
            <a:r>
              <a:rPr lang="en-US" dirty="0"/>
              <a:t>Cloud databases show increasing popularity</a:t>
            </a:r>
          </a:p>
          <a:p>
            <a:r>
              <a:rPr lang="en-US" dirty="0"/>
              <a:t>NoSQL databases are gaining traction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Database professionals should develop cloud skills</a:t>
            </a:r>
          </a:p>
          <a:p>
            <a:r>
              <a:rPr lang="en-US" dirty="0"/>
              <a:t>Organizations need hybrid database strategies</a:t>
            </a:r>
          </a:p>
          <a:p>
            <a:r>
              <a:rPr lang="en-US" dirty="0"/>
              <a:t>Demand for data engineering expertise will continue rising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3537857" cy="4351338"/>
          </a:xfrm>
        </p:spPr>
        <p:txBody>
          <a:bodyPr/>
          <a:lstStyle/>
          <a:p>
            <a:r>
              <a:rPr lang="en-US" dirty="0"/>
              <a:t>JavaScript, Python, and SQL remain widely used technologies</a:t>
            </a:r>
          </a:p>
          <a:p>
            <a:r>
              <a:rPr lang="en-US" dirty="0"/>
              <a:t>Most respondents work with multiple programming tools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DEF53-2144-0F56-3C97-156CFEA2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092" y="1350818"/>
            <a:ext cx="6861708" cy="40059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3646714" cy="4351338"/>
          </a:xfrm>
        </p:spPr>
        <p:txBody>
          <a:bodyPr/>
          <a:lstStyle/>
          <a:p>
            <a:r>
              <a:rPr lang="en-US" dirty="0"/>
              <a:t>Emerging technologies are expected to experience continued growth</a:t>
            </a:r>
          </a:p>
          <a:p>
            <a:r>
              <a:rPr lang="en-US" dirty="0"/>
              <a:t>Demand for cloud, AI, and data-related skills is increasing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D9EBE-8E78-5C9F-C128-679E89F0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1528401"/>
            <a:ext cx="6979722" cy="41838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3657600" cy="4351338"/>
          </a:xfrm>
        </p:spPr>
        <p:txBody>
          <a:bodyPr/>
          <a:lstStyle/>
          <a:p>
            <a:r>
              <a:rPr lang="en-US" dirty="0"/>
              <a:t>Respondents come from diverse backgrounds and experience levels</a:t>
            </a:r>
          </a:p>
          <a:p>
            <a:r>
              <a:rPr lang="en-US" dirty="0"/>
              <a:t>Technology adoption varies across regions and age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42BEF-D9EA-EAB6-D4A3-EC4A73831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690688"/>
            <a:ext cx="6858000" cy="37926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technology industry continues to evolve rapidly</a:t>
            </a:r>
          </a:p>
          <a:p>
            <a:r>
              <a:rPr lang="en-CA" dirty="0"/>
              <a:t>Salary and job opportunities vary significantly by skill and location</a:t>
            </a:r>
          </a:p>
          <a:p>
            <a:r>
              <a:rPr lang="en-CA" dirty="0"/>
              <a:t>Python, JavaScript, and SQL remain critical competencies</a:t>
            </a:r>
          </a:p>
          <a:p>
            <a:r>
              <a:rPr lang="en-CA" dirty="0"/>
              <a:t>Emerging technologies present strong opportunities for future growth</a:t>
            </a:r>
          </a:p>
          <a:p>
            <a:r>
              <a:rPr lang="en-CA" dirty="0"/>
              <a:t>Continuous learning is essential for career success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CA" dirty="0"/>
              <a:t>Demand for technology professionals remains strong</a:t>
            </a:r>
            <a:endParaRPr lang="en-US" dirty="0"/>
          </a:p>
          <a:p>
            <a:r>
              <a:rPr lang="en-CA" dirty="0"/>
              <a:t>Python and Swift provide the highest average salaries</a:t>
            </a:r>
            <a:endParaRPr lang="en-US" dirty="0"/>
          </a:p>
          <a:p>
            <a:r>
              <a:rPr lang="en-CA" dirty="0"/>
              <a:t>Geographic location affects employment opportunities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CA" dirty="0"/>
              <a:t>Professionals should prioritize high-demand skills</a:t>
            </a:r>
            <a:endParaRPr lang="en-US" dirty="0"/>
          </a:p>
          <a:p>
            <a:r>
              <a:rPr lang="en-CA" dirty="0"/>
              <a:t>Employers must adapt to changing technology trends</a:t>
            </a:r>
            <a:endParaRPr lang="en-US" dirty="0"/>
          </a:p>
          <a:p>
            <a:r>
              <a:rPr lang="en-CA" dirty="0"/>
              <a:t>Upskilling and continuous learning are key competitive advantages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Technology trends continue to shape labor market demand</a:t>
            </a:r>
            <a:endParaRPr lang="en-US" dirty="0"/>
          </a:p>
          <a:p>
            <a:r>
              <a:rPr lang="en-CA" dirty="0"/>
              <a:t>Python, JavaScript, and SQL remain among the most important skills</a:t>
            </a:r>
            <a:endParaRPr lang="en-US" dirty="0"/>
          </a:p>
          <a:p>
            <a:r>
              <a:rPr lang="en-CA" dirty="0"/>
              <a:t>High-paying opportunities exist for professionals with specialized expertise</a:t>
            </a:r>
            <a:endParaRPr lang="en-US" dirty="0"/>
          </a:p>
          <a:p>
            <a:r>
              <a:rPr lang="en-CA" dirty="0"/>
              <a:t>Data-driven insights can guide better career and organizational decisions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540</Words>
  <Application>Microsoft Macintosh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Nicholas Vergara Hippisley</cp:lastModifiedBy>
  <cp:revision>8</cp:revision>
  <dcterms:created xsi:type="dcterms:W3CDTF">2024-10-30T05:40:03Z</dcterms:created>
  <dcterms:modified xsi:type="dcterms:W3CDTF">2026-07-15T06:54:57Z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